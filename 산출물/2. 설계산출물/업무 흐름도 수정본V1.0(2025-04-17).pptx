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248591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248591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6150" y="38600"/>
            <a:ext cx="8520600" cy="4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업무흐름도</a:t>
            </a:r>
            <a:endParaRPr sz="2800"/>
          </a:p>
        </p:txBody>
      </p:sp>
      <p:sp>
        <p:nvSpPr>
          <p:cNvPr id="55" name="Google Shape;55;p13"/>
          <p:cNvSpPr/>
          <p:nvPr/>
        </p:nvSpPr>
        <p:spPr>
          <a:xfrm>
            <a:off x="311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지진현황 조회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7069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예측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102263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내진설계 추천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433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지진 대피 요령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872688" y="558800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349925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954650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cxnSp>
        <p:nvCxnSpPr>
          <p:cNvPr id="62" name="Google Shape;62;p13"/>
          <p:cNvCxnSpPr>
            <a:stCxn id="59" idx="1"/>
            <a:endCxn id="56" idx="0"/>
          </p:cNvCxnSpPr>
          <p:nvPr/>
        </p:nvCxnSpPr>
        <p:spPr>
          <a:xfrm flipH="1">
            <a:off x="3406188" y="796400"/>
            <a:ext cx="4665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6" idx="2"/>
            <a:endCxn id="61" idx="0"/>
          </p:cNvCxnSpPr>
          <p:nvPr/>
        </p:nvCxnSpPr>
        <p:spPr>
          <a:xfrm>
            <a:off x="34062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9" idx="3"/>
            <a:endCxn id="57" idx="0"/>
          </p:cNvCxnSpPr>
          <p:nvPr/>
        </p:nvCxnSpPr>
        <p:spPr>
          <a:xfrm>
            <a:off x="5271288" y="796400"/>
            <a:ext cx="5304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7" idx="2"/>
            <a:endCxn id="60" idx="0"/>
          </p:cNvCxnSpPr>
          <p:nvPr/>
        </p:nvCxnSpPr>
        <p:spPr>
          <a:xfrm>
            <a:off x="5801563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3774300" y="2818325"/>
            <a:ext cx="15954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 모델 학습</a:t>
            </a:r>
            <a:endParaRPr/>
          </a:p>
        </p:txBody>
      </p:sp>
      <p:cxnSp>
        <p:nvCxnSpPr>
          <p:cNvPr id="67" name="Google Shape;67;p13"/>
          <p:cNvCxnSpPr>
            <a:stCxn id="61" idx="2"/>
            <a:endCxn id="66" idx="0"/>
          </p:cNvCxnSpPr>
          <p:nvPr/>
        </p:nvCxnSpPr>
        <p:spPr>
          <a:xfrm>
            <a:off x="3406300" y="2347150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0" idx="2"/>
            <a:endCxn id="66" idx="0"/>
          </p:cNvCxnSpPr>
          <p:nvPr/>
        </p:nvCxnSpPr>
        <p:spPr>
          <a:xfrm flipH="1">
            <a:off x="4571875" y="2347150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/>
          <p:nvPr/>
        </p:nvSpPr>
        <p:spPr>
          <a:xfrm>
            <a:off x="2954650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5349925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926775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 내진설계 방식</a:t>
            </a:r>
            <a:endParaRPr/>
          </a:p>
        </p:txBody>
      </p:sp>
      <p:cxnSp>
        <p:nvCxnSpPr>
          <p:cNvPr id="72" name="Google Shape;72;p13"/>
          <p:cNvCxnSpPr>
            <a:stCxn id="66" idx="2"/>
            <a:endCxn id="69" idx="0"/>
          </p:cNvCxnSpPr>
          <p:nvPr/>
        </p:nvCxnSpPr>
        <p:spPr>
          <a:xfrm flipH="1">
            <a:off x="3406200" y="3115325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6" idx="2"/>
            <a:endCxn id="70" idx="0"/>
          </p:cNvCxnSpPr>
          <p:nvPr/>
        </p:nvCxnSpPr>
        <p:spPr>
          <a:xfrm>
            <a:off x="4572000" y="3115325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70" idx="2"/>
            <a:endCxn id="71" idx="0"/>
          </p:cNvCxnSpPr>
          <p:nvPr/>
        </p:nvCxnSpPr>
        <p:spPr>
          <a:xfrm>
            <a:off x="5801575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59" idx="1"/>
            <a:endCxn id="55" idx="0"/>
          </p:cNvCxnSpPr>
          <p:nvPr/>
        </p:nvCxnSpPr>
        <p:spPr>
          <a:xfrm flipH="1">
            <a:off x="1010988" y="796400"/>
            <a:ext cx="28617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59" idx="3"/>
            <a:endCxn id="58" idx="0"/>
          </p:cNvCxnSpPr>
          <p:nvPr/>
        </p:nvCxnSpPr>
        <p:spPr>
          <a:xfrm>
            <a:off x="5271288" y="796400"/>
            <a:ext cx="28617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/>
          <p:nvPr/>
        </p:nvSpPr>
        <p:spPr>
          <a:xfrm>
            <a:off x="7258200" y="2050150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지진대피요령 자료</a:t>
            </a:r>
            <a:endParaRPr/>
          </a:p>
        </p:txBody>
      </p:sp>
      <p:cxnSp>
        <p:nvCxnSpPr>
          <p:cNvPr id="78" name="Google Shape;78;p13"/>
          <p:cNvCxnSpPr>
            <a:stCxn id="58" idx="2"/>
            <a:endCxn id="77" idx="0"/>
          </p:cNvCxnSpPr>
          <p:nvPr/>
        </p:nvCxnSpPr>
        <p:spPr>
          <a:xfrm>
            <a:off x="8132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/>
          <p:nvPr/>
        </p:nvSpPr>
        <p:spPr>
          <a:xfrm>
            <a:off x="396148" y="2818325"/>
            <a:ext cx="12297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기상청 API</a:t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02450" y="2050150"/>
            <a:ext cx="18171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최근 지진 현황 목록</a:t>
            </a:r>
            <a:endParaRPr/>
          </a:p>
        </p:txBody>
      </p:sp>
      <p:cxnSp>
        <p:nvCxnSpPr>
          <p:cNvPr id="81" name="Google Shape;81;p13"/>
          <p:cNvCxnSpPr>
            <a:stCxn id="79" idx="0"/>
            <a:endCxn id="80" idx="2"/>
          </p:cNvCxnSpPr>
          <p:nvPr/>
        </p:nvCxnSpPr>
        <p:spPr>
          <a:xfrm rot="10800000">
            <a:off x="1010998" y="2347025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55" idx="2"/>
            <a:endCxn id="80" idx="0"/>
          </p:cNvCxnSpPr>
          <p:nvPr/>
        </p:nvCxnSpPr>
        <p:spPr>
          <a:xfrm>
            <a:off x="1010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/>
          <p:nvPr/>
        </p:nvSpPr>
        <p:spPr>
          <a:xfrm>
            <a:off x="2531500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피해 최소화</a:t>
            </a:r>
            <a:endParaRPr/>
          </a:p>
        </p:txBody>
      </p:sp>
      <p:cxnSp>
        <p:nvCxnSpPr>
          <p:cNvPr id="84" name="Google Shape;84;p13"/>
          <p:cNvCxnSpPr>
            <a:stCxn id="69" idx="2"/>
            <a:endCxn id="83" idx="0"/>
          </p:cNvCxnSpPr>
          <p:nvPr/>
        </p:nvCxnSpPr>
        <p:spPr>
          <a:xfrm>
            <a:off x="3406300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2234725" y="3792375"/>
            <a:ext cx="6677700" cy="857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7700525" y="3874225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실시</a:t>
            </a:r>
            <a:r>
              <a:rPr lang="ko" sz="1800">
                <a:solidFill>
                  <a:schemeClr val="dk2"/>
                </a:solidFill>
              </a:rPr>
              <a:t>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234725" y="2295325"/>
            <a:ext cx="6677700" cy="1497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700525" y="2459463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34725" y="696025"/>
            <a:ext cx="6677700" cy="15993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31475" y="2493848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458533" y="914351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지진현황 조회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174604" y="1230624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건축 부지 선정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165228" y="914325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지진현황파악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2458541" y="1546914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예측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458508" y="2493557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건축물 유형 입력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165229" y="1546891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 </a:t>
            </a:r>
            <a:r>
              <a:rPr lang="ko"/>
              <a:t>결과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165199" y="2493555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</a:t>
            </a:r>
            <a:r>
              <a:rPr lang="ko">
                <a:solidFill>
                  <a:schemeClr val="dk1"/>
                </a:solidFill>
              </a:rPr>
              <a:t>등급 산정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2458517" y="4007006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건축 위치 입력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165206" y="4007023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설계 방식 추천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231598" y="4007650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</a:t>
            </a:r>
            <a:r>
              <a:rPr lang="ko">
                <a:solidFill>
                  <a:schemeClr val="dk1"/>
                </a:solidFill>
              </a:rPr>
              <a:t>보강 요소 결정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231586" y="2493555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등급 </a:t>
            </a:r>
            <a:r>
              <a:rPr lang="ko">
                <a:solidFill>
                  <a:schemeClr val="dk1"/>
                </a:solidFill>
              </a:rPr>
              <a:t>결정</a:t>
            </a:r>
            <a:endParaRPr/>
          </a:p>
        </p:txBody>
      </p:sp>
      <p:cxnSp>
        <p:nvCxnSpPr>
          <p:cNvPr id="106" name="Google Shape;106;p14"/>
          <p:cNvCxnSpPr>
            <a:stCxn id="94" idx="3"/>
            <a:endCxn id="95" idx="1"/>
          </p:cNvCxnSpPr>
          <p:nvPr/>
        </p:nvCxnSpPr>
        <p:spPr>
          <a:xfrm flipH="1" rot="10800000">
            <a:off x="1643575" y="1129598"/>
            <a:ext cx="815100" cy="15795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4"/>
          <p:cNvCxnSpPr>
            <a:stCxn id="94" idx="3"/>
            <a:endCxn id="98" idx="1"/>
          </p:cNvCxnSpPr>
          <p:nvPr/>
        </p:nvCxnSpPr>
        <p:spPr>
          <a:xfrm flipH="1" rot="10800000">
            <a:off x="1643575" y="1762298"/>
            <a:ext cx="815100" cy="9468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4"/>
          <p:cNvCxnSpPr>
            <a:stCxn id="94" idx="3"/>
            <a:endCxn id="99" idx="1"/>
          </p:cNvCxnSpPr>
          <p:nvPr/>
        </p:nvCxnSpPr>
        <p:spPr>
          <a:xfrm>
            <a:off x="1643575" y="2709098"/>
            <a:ext cx="814800" cy="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4"/>
          <p:cNvCxnSpPr>
            <a:stCxn id="94" idx="3"/>
            <a:endCxn id="102" idx="1"/>
          </p:cNvCxnSpPr>
          <p:nvPr/>
        </p:nvCxnSpPr>
        <p:spPr>
          <a:xfrm>
            <a:off x="1643575" y="2709098"/>
            <a:ext cx="814800" cy="1513200"/>
          </a:xfrm>
          <a:prstGeom prst="bentConnector3">
            <a:avLst>
              <a:gd fmla="val 5002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>
            <a:stCxn id="95" idx="3"/>
            <a:endCxn id="97" idx="1"/>
          </p:cNvCxnSpPr>
          <p:nvPr/>
        </p:nvCxnSpPr>
        <p:spPr>
          <a:xfrm>
            <a:off x="3870633" y="1129601"/>
            <a:ext cx="294600" cy="600"/>
          </a:xfrm>
          <a:prstGeom prst="bentConnector3">
            <a:avLst>
              <a:gd fmla="val 5002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>
            <a:stCxn id="97" idx="3"/>
            <a:endCxn id="96" idx="1"/>
          </p:cNvCxnSpPr>
          <p:nvPr/>
        </p:nvCxnSpPr>
        <p:spPr>
          <a:xfrm>
            <a:off x="5577328" y="1129575"/>
            <a:ext cx="597300" cy="3162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>
            <a:stCxn id="98" idx="3"/>
            <a:endCxn id="100" idx="1"/>
          </p:cNvCxnSpPr>
          <p:nvPr/>
        </p:nvCxnSpPr>
        <p:spPr>
          <a:xfrm>
            <a:off x="3870641" y="1762164"/>
            <a:ext cx="294600" cy="600"/>
          </a:xfrm>
          <a:prstGeom prst="bentConnector3">
            <a:avLst>
              <a:gd fmla="val 5002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4"/>
          <p:cNvCxnSpPr>
            <a:stCxn id="100" idx="3"/>
            <a:endCxn id="96" idx="1"/>
          </p:cNvCxnSpPr>
          <p:nvPr/>
        </p:nvCxnSpPr>
        <p:spPr>
          <a:xfrm flipH="1" rot="10800000">
            <a:off x="5577329" y="1445941"/>
            <a:ext cx="597300" cy="3162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4"/>
          <p:cNvCxnSpPr>
            <a:stCxn id="99" idx="3"/>
            <a:endCxn id="101" idx="1"/>
          </p:cNvCxnSpPr>
          <p:nvPr/>
        </p:nvCxnSpPr>
        <p:spPr>
          <a:xfrm>
            <a:off x="3870608" y="2708807"/>
            <a:ext cx="294600" cy="600"/>
          </a:xfrm>
          <a:prstGeom prst="bentConnector3">
            <a:avLst>
              <a:gd fmla="val 5002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4"/>
          <p:cNvCxnSpPr>
            <a:stCxn id="101" idx="3"/>
            <a:endCxn id="105" idx="1"/>
          </p:cNvCxnSpPr>
          <p:nvPr/>
        </p:nvCxnSpPr>
        <p:spPr>
          <a:xfrm>
            <a:off x="5577299" y="2708805"/>
            <a:ext cx="6543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4"/>
          <p:cNvCxnSpPr>
            <a:stCxn id="102" idx="3"/>
            <a:endCxn id="103" idx="1"/>
          </p:cNvCxnSpPr>
          <p:nvPr/>
        </p:nvCxnSpPr>
        <p:spPr>
          <a:xfrm>
            <a:off x="3870617" y="4222256"/>
            <a:ext cx="2946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4"/>
          <p:cNvCxnSpPr>
            <a:stCxn id="103" idx="3"/>
            <a:endCxn id="104" idx="1"/>
          </p:cNvCxnSpPr>
          <p:nvPr/>
        </p:nvCxnSpPr>
        <p:spPr>
          <a:xfrm>
            <a:off x="5577306" y="4222273"/>
            <a:ext cx="654300" cy="6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4"/>
          <p:cNvSpPr txBox="1"/>
          <p:nvPr/>
        </p:nvSpPr>
        <p:spPr>
          <a:xfrm>
            <a:off x="7700525" y="866363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계획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231588" y="3163661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내진 기본 설계</a:t>
            </a:r>
            <a:endParaRPr/>
          </a:p>
        </p:txBody>
      </p:sp>
      <p:sp>
        <p:nvSpPr>
          <p:cNvPr id="120" name="Google Shape;120;p14"/>
          <p:cNvSpPr txBox="1"/>
          <p:nvPr>
            <p:ph idx="4294967295" type="ctrTitle"/>
          </p:nvPr>
        </p:nvSpPr>
        <p:spPr>
          <a:xfrm>
            <a:off x="311700" y="56675"/>
            <a:ext cx="8520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업무흐름도</a:t>
            </a:r>
            <a:endParaRPr sz="2800"/>
          </a:p>
        </p:txBody>
      </p:sp>
      <p:cxnSp>
        <p:nvCxnSpPr>
          <p:cNvPr id="121" name="Google Shape;121;p14"/>
          <p:cNvCxnSpPr>
            <a:stCxn id="101" idx="3"/>
            <a:endCxn id="119" idx="1"/>
          </p:cNvCxnSpPr>
          <p:nvPr/>
        </p:nvCxnSpPr>
        <p:spPr>
          <a:xfrm>
            <a:off x="5577299" y="2708805"/>
            <a:ext cx="654300" cy="6702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