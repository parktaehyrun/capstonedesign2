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12801600" cy="9601200" type="A3"/>
  <p:notesSz cx="6865938" cy="99980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610956" algn="l" rtl="0" fontAlgn="base" latinLnBrk="1">
      <a:spcBef>
        <a:spcPct val="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221913" algn="l" rtl="0" fontAlgn="base" latinLnBrk="1">
      <a:spcBef>
        <a:spcPct val="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832869" algn="l" rtl="0" fontAlgn="base" latinLnBrk="1">
      <a:spcBef>
        <a:spcPct val="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443825" algn="l" rtl="0" fontAlgn="base" latinLnBrk="1">
      <a:spcBef>
        <a:spcPct val="0"/>
      </a:spcBef>
      <a:spcAft>
        <a:spcPct val="0"/>
      </a:spcAft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3054782" algn="l" defTabSz="1221913" rtl="0" eaLnBrk="1" latinLnBrk="1" hangingPunct="1"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665738" algn="l" defTabSz="1221913" rtl="0" eaLnBrk="1" latinLnBrk="1" hangingPunct="1"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4276695" algn="l" defTabSz="1221913" rtl="0" eaLnBrk="1" latinLnBrk="1" hangingPunct="1"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887651" algn="l" defTabSz="1221913" rtl="0" eaLnBrk="1" latinLnBrk="1" hangingPunct="1">
      <a:defRPr kumimoji="1" sz="15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78">
          <p15:clr>
            <a:srgbClr val="A4A3A4"/>
          </p15:clr>
        </p15:guide>
        <p15:guide id="2" orient="horz" pos="393" userDrawn="1">
          <p15:clr>
            <a:srgbClr val="A4A3A4"/>
          </p15:clr>
        </p15:guide>
        <p15:guide id="3" orient="horz" pos="5846">
          <p15:clr>
            <a:srgbClr val="A4A3A4"/>
          </p15:clr>
        </p15:guide>
        <p15:guide id="4" orient="horz" pos="134">
          <p15:clr>
            <a:srgbClr val="A4A3A4"/>
          </p15:clr>
        </p15:guide>
        <p15:guide id="5" orient="horz" pos="5257">
          <p15:clr>
            <a:srgbClr val="A4A3A4"/>
          </p15:clr>
        </p15:guide>
        <p15:guide id="6" orient="horz" pos="781">
          <p15:clr>
            <a:srgbClr val="A4A3A4"/>
          </p15:clr>
        </p15:guide>
        <p15:guide id="7" pos="4032">
          <p15:clr>
            <a:srgbClr val="A4A3A4"/>
          </p15:clr>
        </p15:guide>
        <p15:guide id="8" pos="7816">
          <p15:clr>
            <a:srgbClr val="A4A3A4"/>
          </p15:clr>
        </p15:guide>
        <p15:guide id="9" pos="186">
          <p15:clr>
            <a:srgbClr val="A4A3A4"/>
          </p15:clr>
        </p15:guide>
        <p15:guide id="10" pos="611">
          <p15:clr>
            <a:srgbClr val="A4A3A4"/>
          </p15:clr>
        </p15:guide>
        <p15:guide id="11" pos="73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9" userDrawn="1">
          <p15:clr>
            <a:srgbClr val="A4A3A4"/>
          </p15:clr>
        </p15:guide>
        <p15:guide id="2" pos="216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13" autoAdjust="0"/>
    <p:restoredTop sz="97553" autoAdjust="0"/>
  </p:normalViewPr>
  <p:slideViewPr>
    <p:cSldViewPr>
      <p:cViewPr varScale="1">
        <p:scale>
          <a:sx n="81" d="100"/>
          <a:sy n="81" d="100"/>
        </p:scale>
        <p:origin x="2106" y="114"/>
      </p:cViewPr>
      <p:guideLst>
        <p:guide orient="horz" pos="5578"/>
        <p:guide orient="horz" pos="393"/>
        <p:guide orient="horz" pos="5846"/>
        <p:guide orient="horz" pos="134"/>
        <p:guide orient="horz" pos="5257"/>
        <p:guide orient="horz" pos="781"/>
        <p:guide pos="4032"/>
        <p:guide pos="7816"/>
        <p:guide pos="186"/>
        <p:guide pos="611"/>
        <p:guide pos="73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72"/>
      </p:cViewPr>
      <p:guideLst>
        <p:guide orient="horz" pos="3149"/>
        <p:guide pos="21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0699" y="0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98172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0699" y="9498172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2CD1F5E4-9472-40E8-A3FE-848ACDC25F6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3803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0699" y="0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5038" y="750888"/>
            <a:ext cx="4995862" cy="37480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458" y="4749086"/>
            <a:ext cx="5035022" cy="4499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98172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0699" y="9498172"/>
            <a:ext cx="2975239" cy="499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46" tIns="48174" rIns="96346" bIns="4817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908D01D-3302-42CB-9F01-EEEC1A5C0B1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1043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610956" algn="l" rtl="0" fontAlgn="base" latinLnBrk="1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221913" algn="l" rtl="0" fontAlgn="base" latinLnBrk="1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832869" algn="l" rtl="0" fontAlgn="base" latinLnBrk="1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443825" algn="l" rtl="0" fontAlgn="base" latinLnBrk="1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3054782" algn="l" defTabSz="1221913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C3E49-596F-4F2C-A186-9AB1291F7978}" type="slidenum">
              <a:rPr lang="en-US" altLang="ko-KR"/>
              <a:pPr/>
              <a:t>0</a:t>
            </a:fld>
            <a:endParaRPr lang="en-US" altLang="ko-KR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750888"/>
            <a:ext cx="4995862" cy="37480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408121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  <a:prstGeom prst="rect">
            <a:avLst/>
          </a:prstGeom>
        </p:spPr>
        <p:txBody>
          <a:bodyPr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  <a:prstGeom prst="rect">
            <a:avLst/>
          </a:prstGeom>
        </p:spPr>
        <p:txBody>
          <a:bodyPr lIns="122191" tIns="61096" rIns="122191" bIns="61096"/>
          <a:lstStyle>
            <a:lvl1pPr marL="0" indent="0" algn="ctr">
              <a:buNone/>
              <a:defRPr/>
            </a:lvl1pPr>
            <a:lvl2pPr marL="610956" indent="0" algn="ctr">
              <a:buNone/>
              <a:defRPr/>
            </a:lvl2pPr>
            <a:lvl3pPr marL="1221913" indent="0" algn="ctr">
              <a:buNone/>
              <a:defRPr/>
            </a:lvl3pPr>
            <a:lvl4pPr marL="1832869" indent="0" algn="ctr">
              <a:buNone/>
              <a:defRPr/>
            </a:lvl4pPr>
            <a:lvl5pPr marL="2443825" indent="0" algn="ctr">
              <a:buNone/>
              <a:defRPr/>
            </a:lvl5pPr>
            <a:lvl6pPr marL="3054782" indent="0" algn="ctr">
              <a:buNone/>
              <a:defRPr/>
            </a:lvl6pPr>
            <a:lvl7pPr marL="3665738" indent="0" algn="ctr">
              <a:buNone/>
              <a:defRPr/>
            </a:lvl7pPr>
            <a:lvl8pPr marL="4276695" indent="0" algn="ctr">
              <a:buNone/>
              <a:defRPr/>
            </a:lvl8pPr>
            <a:lvl9pPr marL="4887651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912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lIns="122191" tIns="61096" rIns="122191" bIns="61096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4680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409" y="6169661"/>
            <a:ext cx="10881360" cy="1906905"/>
          </a:xfrm>
          <a:prstGeom prst="rect">
            <a:avLst/>
          </a:prstGeom>
        </p:spPr>
        <p:txBody>
          <a:bodyPr lIns="122191" tIns="61096" rIns="122191" bIns="61096" anchor="t"/>
          <a:lstStyle>
            <a:lvl1pPr algn="l">
              <a:defRPr sz="53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11409" y="4069399"/>
            <a:ext cx="10881360" cy="2100262"/>
          </a:xfrm>
          <a:prstGeom prst="rect">
            <a:avLst/>
          </a:prstGeom>
        </p:spPr>
        <p:txBody>
          <a:bodyPr lIns="122191" tIns="61096" rIns="122191" bIns="61096" anchor="b"/>
          <a:lstStyle>
            <a:lvl1pPr marL="0" indent="0">
              <a:buNone/>
              <a:defRPr sz="2700"/>
            </a:lvl1pPr>
            <a:lvl2pPr marL="610956" indent="0">
              <a:buNone/>
              <a:defRPr sz="2400"/>
            </a:lvl2pPr>
            <a:lvl3pPr marL="1221913" indent="0">
              <a:buNone/>
              <a:defRPr sz="2100"/>
            </a:lvl3pPr>
            <a:lvl4pPr marL="1832869" indent="0">
              <a:buNone/>
              <a:defRPr sz="1900"/>
            </a:lvl4pPr>
            <a:lvl5pPr marL="2443825" indent="0">
              <a:buNone/>
              <a:defRPr sz="1900"/>
            </a:lvl5pPr>
            <a:lvl6pPr marL="3054782" indent="0">
              <a:buNone/>
              <a:defRPr sz="1900"/>
            </a:lvl6pPr>
            <a:lvl7pPr marL="3665738" indent="0">
              <a:buNone/>
              <a:defRPr sz="1900"/>
            </a:lvl7pPr>
            <a:lvl8pPr marL="4276695" indent="0">
              <a:buNone/>
              <a:defRPr sz="1900"/>
            </a:lvl8pPr>
            <a:lvl9pPr marL="4887651" indent="0">
              <a:buNone/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5184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0080" y="2240281"/>
            <a:ext cx="5662246" cy="6336348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99274" y="2240281"/>
            <a:ext cx="5662246" cy="6336348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1420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092" cy="895667"/>
          </a:xfrm>
          <a:prstGeom prst="rect">
            <a:avLst/>
          </a:prstGeom>
        </p:spPr>
        <p:txBody>
          <a:bodyPr lIns="122191" tIns="61096" rIns="122191" bIns="61096"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092" cy="5531803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03378" y="2149158"/>
            <a:ext cx="5658143" cy="895667"/>
          </a:xfrm>
          <a:prstGeom prst="rect">
            <a:avLst/>
          </a:prstGeom>
        </p:spPr>
        <p:txBody>
          <a:bodyPr lIns="122191" tIns="61096" rIns="122191" bIns="61096"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03378" y="3044825"/>
            <a:ext cx="5658143" cy="5531803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526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962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74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2270"/>
            <a:ext cx="4211809" cy="1626870"/>
          </a:xfrm>
          <a:prstGeom prst="rect">
            <a:avLst/>
          </a:prstGeom>
        </p:spPr>
        <p:txBody>
          <a:bodyPr lIns="122191" tIns="61096" rIns="122191" bIns="61096" anchor="b"/>
          <a:lstStyle>
            <a:lvl1pPr algn="l">
              <a:defRPr sz="27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5754" y="382271"/>
            <a:ext cx="7155766" cy="8194358"/>
          </a:xfrm>
          <a:prstGeom prst="rect">
            <a:avLst/>
          </a:prstGeom>
        </p:spPr>
        <p:txBody>
          <a:bodyPr lIns="122191" tIns="61096" rIns="122191" bIns="61096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40080" y="2009141"/>
            <a:ext cx="4211809" cy="6567488"/>
          </a:xfrm>
          <a:prstGeom prst="rect">
            <a:avLst/>
          </a:prstGeom>
        </p:spPr>
        <p:txBody>
          <a:bodyPr lIns="122191" tIns="61096" rIns="122191" bIns="61096"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1190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9032" y="6720840"/>
            <a:ext cx="7680960" cy="793433"/>
          </a:xfrm>
          <a:prstGeom prst="rect">
            <a:avLst/>
          </a:prstGeom>
        </p:spPr>
        <p:txBody>
          <a:bodyPr lIns="122191" tIns="61096" rIns="122191" bIns="61096" anchor="b"/>
          <a:lstStyle>
            <a:lvl1pPr algn="l">
              <a:defRPr sz="27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09032" y="857885"/>
            <a:ext cx="7680960" cy="5760720"/>
          </a:xfrm>
          <a:prstGeom prst="rect">
            <a:avLst/>
          </a:prstGeom>
        </p:spPr>
        <p:txBody>
          <a:bodyPr lIns="122191" tIns="61096" rIns="122191" bIns="61096"/>
          <a:lstStyle>
            <a:lvl1pPr marL="0" indent="0">
              <a:buNone/>
              <a:defRPr sz="4300"/>
            </a:lvl1pPr>
            <a:lvl2pPr marL="610956" indent="0">
              <a:buNone/>
              <a:defRPr sz="3700"/>
            </a:lvl2pPr>
            <a:lvl3pPr marL="1221913" indent="0">
              <a:buNone/>
              <a:defRPr sz="3200"/>
            </a:lvl3pPr>
            <a:lvl4pPr marL="1832869" indent="0">
              <a:buNone/>
              <a:defRPr sz="2700"/>
            </a:lvl4pPr>
            <a:lvl5pPr marL="2443825" indent="0">
              <a:buNone/>
              <a:defRPr sz="2700"/>
            </a:lvl5pPr>
            <a:lvl6pPr marL="3054782" indent="0">
              <a:buNone/>
              <a:defRPr sz="2700"/>
            </a:lvl6pPr>
            <a:lvl7pPr marL="3665738" indent="0">
              <a:buNone/>
              <a:defRPr sz="2700"/>
            </a:lvl7pPr>
            <a:lvl8pPr marL="4276695" indent="0">
              <a:buNone/>
              <a:defRPr sz="2700"/>
            </a:lvl8pPr>
            <a:lvl9pPr marL="4887651" indent="0">
              <a:buNone/>
              <a:defRPr sz="27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09032" y="7514273"/>
            <a:ext cx="7680960" cy="1126807"/>
          </a:xfrm>
          <a:prstGeom prst="rect">
            <a:avLst/>
          </a:prstGeom>
        </p:spPr>
        <p:txBody>
          <a:bodyPr lIns="122191" tIns="61096" rIns="122191" bIns="61096"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3111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eaVert" lIns="122191" tIns="61096" rIns="122191" bIns="61096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5994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81160" y="384494"/>
            <a:ext cx="2880360" cy="8192135"/>
          </a:xfrm>
          <a:prstGeom prst="rect">
            <a:avLst/>
          </a:prstGeom>
        </p:spPr>
        <p:txBody>
          <a:bodyPr vert="eaVert" lIns="122191" tIns="61096" rIns="122191" bIns="61096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384494"/>
            <a:ext cx="8444132" cy="8192135"/>
          </a:xfrm>
          <a:prstGeom prst="rect">
            <a:avLst/>
          </a:prstGeom>
        </p:spPr>
        <p:txBody>
          <a:bodyPr vert="eaVert" lIns="122191" tIns="61096" rIns="122191" bIns="61096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9502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Text Box 47"/>
          <p:cNvSpPr txBox="1">
            <a:spLocks noChangeArrowheads="1"/>
          </p:cNvSpPr>
          <p:nvPr userDrawn="1"/>
        </p:nvSpPr>
        <p:spPr bwMode="auto">
          <a:xfrm>
            <a:off x="6142124" y="9196706"/>
            <a:ext cx="496837" cy="32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191" tIns="61096" rIns="122191" bIns="61096">
            <a:spAutoFit/>
          </a:bodyPr>
          <a:lstStyle/>
          <a:p>
            <a:pPr algn="ctr"/>
            <a:fld id="{0E6F9B38-398F-411D-ADD9-920CB1D1F66A}" type="slidenum">
              <a:rPr lang="en-US" altLang="ko-KR" sz="1300" smtClean="0">
                <a:latin typeface="바탕체" pitchFamily="17" charset="-127"/>
                <a:ea typeface="바탕체" pitchFamily="17" charset="-127"/>
              </a:rPr>
              <a:pPr algn="ctr"/>
              <a:t>‹#›</a:t>
            </a:fld>
            <a:endParaRPr lang="en-US" altLang="ko-KR" sz="1300" dirty="0">
              <a:latin typeface="바탕체" pitchFamily="17" charset="-127"/>
              <a:ea typeface="바탕체" pitchFamily="17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9196706"/>
            <a:ext cx="12801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610956"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1221913"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832869"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2443825" algn="ctr" rtl="0" fontAlgn="base" latinLnBrk="1">
        <a:spcBef>
          <a:spcPct val="0"/>
        </a:spcBef>
        <a:spcAft>
          <a:spcPct val="0"/>
        </a:spcAft>
        <a:defRPr kumimoji="1" sz="59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458217" indent="-458217" algn="l" rtl="0" fontAlgn="base" latinLnBrk="1">
        <a:spcBef>
          <a:spcPct val="20000"/>
        </a:spcBef>
        <a:spcAft>
          <a:spcPct val="0"/>
        </a:spcAft>
        <a:buChar char="•"/>
        <a:defRPr kumimoji="1" sz="4300">
          <a:solidFill>
            <a:schemeClr val="tx1"/>
          </a:solidFill>
          <a:latin typeface="+mn-lt"/>
          <a:ea typeface="+mn-ea"/>
          <a:cs typeface="+mn-cs"/>
        </a:defRPr>
      </a:lvl1pPr>
      <a:lvl2pPr marL="992804" indent="-381848" algn="l" rtl="0" fontAlgn="base" latinLnBrk="1">
        <a:spcBef>
          <a:spcPct val="20000"/>
        </a:spcBef>
        <a:spcAft>
          <a:spcPct val="0"/>
        </a:spcAft>
        <a:buChar char="–"/>
        <a:defRPr kumimoji="1" sz="3700">
          <a:solidFill>
            <a:schemeClr val="tx1"/>
          </a:solidFill>
          <a:latin typeface="+mn-lt"/>
          <a:ea typeface="+mn-ea"/>
        </a:defRPr>
      </a:lvl2pPr>
      <a:lvl3pPr marL="1527391" indent="-305478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38347" indent="-305478" algn="l" rtl="0" fontAlgn="base" latinLnBrk="1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4pPr>
      <a:lvl5pPr marL="2749304" indent="-305478" algn="l" rtl="0" fontAlgn="base" latinLnBrk="1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5pPr>
      <a:lvl6pPr marL="3360260" indent="-305478" algn="l" rtl="0" fontAlgn="base" latinLnBrk="1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6pPr>
      <a:lvl7pPr marL="3971216" indent="-305478" algn="l" rtl="0" fontAlgn="base" latinLnBrk="1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7pPr>
      <a:lvl8pPr marL="4582173" indent="-305478" algn="l" rtl="0" fontAlgn="base" latinLnBrk="1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8pPr>
      <a:lvl9pPr marL="5193129" indent="-305478" algn="l" rtl="0" fontAlgn="base" latinLnBrk="1">
        <a:spcBef>
          <a:spcPct val="20000"/>
        </a:spcBef>
        <a:spcAft>
          <a:spcPct val="0"/>
        </a:spcAft>
        <a:buChar char="»"/>
        <a:defRPr kumimoji="1" sz="2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956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1913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2869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3825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782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5738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6695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7651" algn="l" defTabSz="1221913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027"/>
          <p:cNvSpPr>
            <a:spLocks noChangeArrowheads="1"/>
          </p:cNvSpPr>
          <p:nvPr/>
        </p:nvSpPr>
        <p:spPr bwMode="auto">
          <a:xfrm>
            <a:off x="385689" y="211139"/>
            <a:ext cx="12120489" cy="369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2191" tIns="61096" rIns="122191" bIns="61096">
            <a:spAutoFit/>
          </a:bodyPr>
          <a:lstStyle/>
          <a:p>
            <a:pPr algn="just" eaLnBrk="0" latinLnBrk="0" hangingPunct="0"/>
            <a:r>
              <a:rPr kumimoji="0" lang="en-US" altLang="ko-KR" sz="1600" dirty="0"/>
              <a:t>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5A8965E-7911-8C84-B35F-27C06E120E60}"/>
              </a:ext>
            </a:extLst>
          </p:cNvPr>
          <p:cNvGrpSpPr/>
          <p:nvPr/>
        </p:nvGrpSpPr>
        <p:grpSpPr>
          <a:xfrm>
            <a:off x="6074466" y="432348"/>
            <a:ext cx="1440000" cy="2880000"/>
            <a:chOff x="1000200" y="1609523"/>
            <a:chExt cx="1728192" cy="332637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A5D0052-93D4-5314-C77C-BB04BEAB7B2C}"/>
                </a:ext>
              </a:extLst>
            </p:cNvPr>
            <p:cNvSpPr/>
            <p:nvPr/>
          </p:nvSpPr>
          <p:spPr>
            <a:xfrm>
              <a:off x="1000200" y="1910999"/>
              <a:ext cx="1728192" cy="30248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36A7763-0762-CE61-8FD2-6A67EE142D0C}"/>
                </a:ext>
              </a:extLst>
            </p:cNvPr>
            <p:cNvSpPr/>
            <p:nvPr/>
          </p:nvSpPr>
          <p:spPr>
            <a:xfrm>
              <a:off x="1172740" y="2043660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건축 허가 및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인허가 절차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B45E74C-B008-73F3-7A7E-E1463E5E3BFB}"/>
                </a:ext>
              </a:extLst>
            </p:cNvPr>
            <p:cNvSpPr/>
            <p:nvPr/>
          </p:nvSpPr>
          <p:spPr>
            <a:xfrm>
              <a:off x="1000200" y="1609523"/>
              <a:ext cx="1728192" cy="2873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인허가 및 시공 준비</a:t>
              </a:r>
              <a:r>
                <a:rPr kumimoji="0" lang="en-US" altLang="ko-KR" sz="10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kumimoji="0"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D001066-BD42-465D-0002-57E235A51D46}"/>
                </a:ext>
              </a:extLst>
            </p:cNvPr>
            <p:cNvSpPr/>
            <p:nvPr/>
          </p:nvSpPr>
          <p:spPr>
            <a:xfrm>
              <a:off x="1163104" y="2766116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성능 평가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보고서 자동 생성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4BBC12A-1037-6977-287A-C6FD6726B7C5}"/>
                </a:ext>
              </a:extLst>
            </p:cNvPr>
            <p:cNvSpPr/>
            <p:nvPr/>
          </p:nvSpPr>
          <p:spPr>
            <a:xfrm>
              <a:off x="1161353" y="4220079"/>
              <a:ext cx="1325134" cy="59445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최적 설계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자동 추천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3F28AEC-8003-87F0-4C17-E4E4FC8860C3}"/>
              </a:ext>
            </a:extLst>
          </p:cNvPr>
          <p:cNvGrpSpPr/>
          <p:nvPr/>
        </p:nvGrpSpPr>
        <p:grpSpPr>
          <a:xfrm>
            <a:off x="4310093" y="432348"/>
            <a:ext cx="1440000" cy="2880000"/>
            <a:chOff x="1000200" y="1597825"/>
            <a:chExt cx="1736669" cy="333367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6DB6EB1-514B-1EF8-7D8E-49A0D77F08DD}"/>
                </a:ext>
              </a:extLst>
            </p:cNvPr>
            <p:cNvSpPr/>
            <p:nvPr/>
          </p:nvSpPr>
          <p:spPr>
            <a:xfrm>
              <a:off x="1000200" y="1906605"/>
              <a:ext cx="1728192" cy="30248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92B9385-BC66-D7AC-3F9A-96EDE8B8F551}"/>
                </a:ext>
              </a:extLst>
            </p:cNvPr>
            <p:cNvSpPr/>
            <p:nvPr/>
          </p:nvSpPr>
          <p:spPr>
            <a:xfrm>
              <a:off x="1172740" y="2043660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건물 구조 및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평면 계획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B7D5B08-A72B-9651-167A-F59902DA71CF}"/>
                </a:ext>
              </a:extLst>
            </p:cNvPr>
            <p:cNvSpPr/>
            <p:nvPr/>
          </p:nvSpPr>
          <p:spPr>
            <a:xfrm>
              <a:off x="1008677" y="1597825"/>
              <a:ext cx="1728192" cy="28733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기본 설계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C44F4B6-D291-39B5-D807-1255DB33B0C4}"/>
                </a:ext>
              </a:extLst>
            </p:cNvPr>
            <p:cNvSpPr/>
            <p:nvPr/>
          </p:nvSpPr>
          <p:spPr>
            <a:xfrm>
              <a:off x="1163104" y="2766116"/>
              <a:ext cx="1325134" cy="59445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최적의 구조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방식 선택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7F17204-D6A0-7E09-6650-BF652686EBF7}"/>
              </a:ext>
            </a:extLst>
          </p:cNvPr>
          <p:cNvGrpSpPr/>
          <p:nvPr/>
        </p:nvGrpSpPr>
        <p:grpSpPr>
          <a:xfrm>
            <a:off x="2647190" y="432348"/>
            <a:ext cx="1440000" cy="2880000"/>
            <a:chOff x="1000200" y="1609523"/>
            <a:chExt cx="1728192" cy="332197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647572C-3A03-BFFA-509B-9FF009BE348E}"/>
                </a:ext>
              </a:extLst>
            </p:cNvPr>
            <p:cNvSpPr/>
            <p:nvPr/>
          </p:nvSpPr>
          <p:spPr>
            <a:xfrm>
              <a:off x="1000200" y="1906605"/>
              <a:ext cx="1728192" cy="30248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C9AD42-43BF-509C-0ED0-5FDDDFA1B602}"/>
                </a:ext>
              </a:extLst>
            </p:cNvPr>
            <p:cNvSpPr/>
            <p:nvPr/>
          </p:nvSpPr>
          <p:spPr>
            <a:xfrm>
              <a:off x="1172740" y="2043660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국가별 내진 설계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서류 및 요건 확인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F00F23A-4502-5B3C-5DE9-D6B32A2A340B}"/>
                </a:ext>
              </a:extLst>
            </p:cNvPr>
            <p:cNvSpPr/>
            <p:nvPr/>
          </p:nvSpPr>
          <p:spPr>
            <a:xfrm>
              <a:off x="1000200" y="1609523"/>
              <a:ext cx="1728192" cy="2873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기본 계획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EF2F226-7E1D-E679-A460-2ABE1F91EBFF}"/>
                </a:ext>
              </a:extLst>
            </p:cNvPr>
            <p:cNvSpPr/>
            <p:nvPr/>
          </p:nvSpPr>
          <p:spPr>
            <a:xfrm>
              <a:off x="1163104" y="2766116"/>
              <a:ext cx="1325134" cy="59445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설계 추천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시스템 실행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EECF372-0923-F2D4-5CD4-167001E621C4}"/>
                </a:ext>
              </a:extLst>
            </p:cNvPr>
            <p:cNvSpPr/>
            <p:nvPr/>
          </p:nvSpPr>
          <p:spPr>
            <a:xfrm>
              <a:off x="1161353" y="4220079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계획 설계 및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설계 방향 설정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5D08054-06A3-9244-25D3-45D873A2DC79}"/>
                </a:ext>
              </a:extLst>
            </p:cNvPr>
            <p:cNvSpPr/>
            <p:nvPr/>
          </p:nvSpPr>
          <p:spPr>
            <a:xfrm>
              <a:off x="1168006" y="3464998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부지 분석 및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법정 설계 영향</a:t>
              </a:r>
            </a:p>
          </p:txBody>
        </p:sp>
      </p:grpSp>
      <p:grpSp>
        <p:nvGrpSpPr>
          <p:cNvPr id="19509" name="그룹 19508">
            <a:extLst>
              <a:ext uri="{FF2B5EF4-FFF2-40B4-BE49-F238E27FC236}">
                <a16:creationId xmlns:a16="http://schemas.microsoft.com/office/drawing/2014/main" id="{4C4C900F-EB01-ACE7-B6E2-BC5F8181FD48}"/>
              </a:ext>
            </a:extLst>
          </p:cNvPr>
          <p:cNvGrpSpPr/>
          <p:nvPr/>
        </p:nvGrpSpPr>
        <p:grpSpPr>
          <a:xfrm>
            <a:off x="656355" y="3697297"/>
            <a:ext cx="1440000" cy="1800000"/>
            <a:chOff x="662284" y="3872344"/>
            <a:chExt cx="1448002" cy="1918138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F35E592-2B8E-E136-1947-8B5F2CBBF04E}"/>
                </a:ext>
              </a:extLst>
            </p:cNvPr>
            <p:cNvSpPr/>
            <p:nvPr/>
          </p:nvSpPr>
          <p:spPr>
            <a:xfrm>
              <a:off x="662284" y="4093902"/>
              <a:ext cx="1448002" cy="16965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C922DAB-15E1-1994-4680-8DC492100238}"/>
                </a:ext>
              </a:extLst>
            </p:cNvPr>
            <p:cNvSpPr/>
            <p:nvPr/>
          </p:nvSpPr>
          <p:spPr>
            <a:xfrm>
              <a:off x="806850" y="4196116"/>
              <a:ext cx="1110291" cy="4502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건축 구조 및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평면 계획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467B78F2-C087-70C2-691D-3795DDDD9CE2}"/>
                </a:ext>
              </a:extLst>
            </p:cNvPr>
            <p:cNvSpPr/>
            <p:nvPr/>
          </p:nvSpPr>
          <p:spPr>
            <a:xfrm>
              <a:off x="662284" y="3872344"/>
              <a:ext cx="1448002" cy="2176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시공 설계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E06F0EAD-3699-A397-728B-525FDC9889B3}"/>
                </a:ext>
              </a:extLst>
            </p:cNvPr>
            <p:cNvSpPr/>
            <p:nvPr/>
          </p:nvSpPr>
          <p:spPr>
            <a:xfrm>
              <a:off x="798777" y="4734911"/>
              <a:ext cx="1110291" cy="4502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개념 설계 추천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kumimoji="0" lang="ko-KR" altLang="en-US" sz="1000" dirty="0" err="1">
                  <a:solidFill>
                    <a:schemeClr val="tx1"/>
                  </a:solidFill>
                  <a:latin typeface="+mn-ea"/>
                </a:rPr>
                <a:t>방향안</a:t>
              </a: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9510" name="그룹 19509">
            <a:extLst>
              <a:ext uri="{FF2B5EF4-FFF2-40B4-BE49-F238E27FC236}">
                <a16:creationId xmlns:a16="http://schemas.microsoft.com/office/drawing/2014/main" id="{C155B46A-D0E9-B131-3198-642F426FD395}"/>
              </a:ext>
            </a:extLst>
          </p:cNvPr>
          <p:cNvGrpSpPr/>
          <p:nvPr/>
        </p:nvGrpSpPr>
        <p:grpSpPr>
          <a:xfrm>
            <a:off x="4300281" y="3745794"/>
            <a:ext cx="1440000" cy="1800000"/>
            <a:chOff x="4326046" y="3831755"/>
            <a:chExt cx="1448002" cy="1946915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0115AF2-D7F5-1ACC-CD10-CCA8836A9ACE}"/>
                </a:ext>
              </a:extLst>
            </p:cNvPr>
            <p:cNvSpPr/>
            <p:nvPr/>
          </p:nvSpPr>
          <p:spPr>
            <a:xfrm>
              <a:off x="4326046" y="4053314"/>
              <a:ext cx="1448002" cy="17253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909DF3F-3908-B0D6-7469-23454E7F459F}"/>
                </a:ext>
              </a:extLst>
            </p:cNvPr>
            <p:cNvSpPr/>
            <p:nvPr/>
          </p:nvSpPr>
          <p:spPr>
            <a:xfrm>
              <a:off x="4470612" y="4155526"/>
              <a:ext cx="1110291" cy="44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 err="1">
                  <a:solidFill>
                    <a:schemeClr val="tx1"/>
                  </a:solidFill>
                  <a:latin typeface="+mn-ea"/>
                </a:rPr>
                <a:t>시기반</a:t>
              </a: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 내진 허용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41C90AF-BE7A-3ECC-6311-517F10DF48F4}"/>
                </a:ext>
              </a:extLst>
            </p:cNvPr>
            <p:cNvSpPr/>
            <p:nvPr/>
          </p:nvSpPr>
          <p:spPr>
            <a:xfrm>
              <a:off x="4326046" y="3831755"/>
              <a:ext cx="1448002" cy="2142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+mn-ea"/>
                </a:rPr>
                <a:t>심시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 설계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ADEF05A-BB8F-0A50-C760-79007F7FC305}"/>
                </a:ext>
              </a:extLst>
            </p:cNvPr>
            <p:cNvSpPr/>
            <p:nvPr/>
          </p:nvSpPr>
          <p:spPr>
            <a:xfrm>
              <a:off x="4467083" y="4743366"/>
              <a:ext cx="1110291" cy="443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보강 설계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자동 추천</a:t>
              </a:r>
            </a:p>
          </p:txBody>
        </p:sp>
      </p:grpSp>
      <p:grpSp>
        <p:nvGrpSpPr>
          <p:cNvPr id="19508" name="그룹 19507">
            <a:extLst>
              <a:ext uri="{FF2B5EF4-FFF2-40B4-BE49-F238E27FC236}">
                <a16:creationId xmlns:a16="http://schemas.microsoft.com/office/drawing/2014/main" id="{D43FA3D4-1821-BA3C-E7EE-81FD319FFC99}"/>
              </a:ext>
            </a:extLst>
          </p:cNvPr>
          <p:cNvGrpSpPr/>
          <p:nvPr/>
        </p:nvGrpSpPr>
        <p:grpSpPr>
          <a:xfrm>
            <a:off x="2598670" y="3729085"/>
            <a:ext cx="1440000" cy="1800000"/>
            <a:chOff x="2656526" y="3855236"/>
            <a:chExt cx="1448002" cy="1946913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D1B0E783-5A89-C180-A7B9-644562C065D4}"/>
                </a:ext>
              </a:extLst>
            </p:cNvPr>
            <p:cNvSpPr/>
            <p:nvPr/>
          </p:nvSpPr>
          <p:spPr>
            <a:xfrm>
              <a:off x="2656526" y="4076794"/>
              <a:ext cx="1448002" cy="17253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DF240F4B-427E-FAE7-CFDD-B5539BC37DE1}"/>
                </a:ext>
              </a:extLst>
            </p:cNvPr>
            <p:cNvSpPr/>
            <p:nvPr/>
          </p:nvSpPr>
          <p:spPr>
            <a:xfrm>
              <a:off x="2801092" y="4179007"/>
              <a:ext cx="1110291" cy="44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설계 구조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도면 확정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F3E105AD-F385-280E-157C-26D00AD1283E}"/>
                </a:ext>
              </a:extLst>
            </p:cNvPr>
            <p:cNvSpPr/>
            <p:nvPr/>
          </p:nvSpPr>
          <p:spPr>
            <a:xfrm>
              <a:off x="2656526" y="3855236"/>
              <a:ext cx="1448002" cy="2142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+mn-ea"/>
                </a:rPr>
                <a:t>심시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 설계</a:t>
              </a:r>
              <a:r>
                <a:rPr kumimoji="0" lang="en-US" altLang="ko-KR" sz="1000" b="1" dirty="0">
                  <a:solidFill>
                    <a:schemeClr val="tx1"/>
                  </a:solidFill>
                  <a:latin typeface="+mn-ea"/>
                </a:rPr>
                <a:t>(SD)</a:t>
              </a:r>
              <a:endParaRPr kumimoji="0"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442D807-BD7B-1914-8E49-3C07EA026144}"/>
                </a:ext>
              </a:extLst>
            </p:cNvPr>
            <p:cNvSpPr/>
            <p:nvPr/>
          </p:nvSpPr>
          <p:spPr>
            <a:xfrm>
              <a:off x="2793019" y="4717802"/>
              <a:ext cx="1110291" cy="443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합리적 구조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방식 선택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9D81C7F0-8618-078A-1BA0-090C32CF73D4}"/>
                </a:ext>
              </a:extLst>
            </p:cNvPr>
            <p:cNvSpPr/>
            <p:nvPr/>
          </p:nvSpPr>
          <p:spPr>
            <a:xfrm>
              <a:off x="2797126" y="5239015"/>
              <a:ext cx="1110291" cy="44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시각화 설계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내용 추천</a:t>
              </a:r>
            </a:p>
          </p:txBody>
        </p:sp>
      </p:grpSp>
      <p:grpSp>
        <p:nvGrpSpPr>
          <p:cNvPr id="19511" name="그룹 19510">
            <a:extLst>
              <a:ext uri="{FF2B5EF4-FFF2-40B4-BE49-F238E27FC236}">
                <a16:creationId xmlns:a16="http://schemas.microsoft.com/office/drawing/2014/main" id="{D8D67ED9-82EA-B404-14C1-A3AC71ECD91C}"/>
              </a:ext>
            </a:extLst>
          </p:cNvPr>
          <p:cNvGrpSpPr/>
          <p:nvPr/>
        </p:nvGrpSpPr>
        <p:grpSpPr>
          <a:xfrm>
            <a:off x="6050311" y="3753203"/>
            <a:ext cx="1440000" cy="1800000"/>
            <a:chOff x="6025722" y="3831755"/>
            <a:chExt cx="1338558" cy="1970394"/>
          </a:xfrm>
        </p:grpSpPr>
        <p:sp>
          <p:nvSpPr>
            <p:cNvPr id="19462" name="직사각형 19461">
              <a:extLst>
                <a:ext uri="{FF2B5EF4-FFF2-40B4-BE49-F238E27FC236}">
                  <a16:creationId xmlns:a16="http://schemas.microsoft.com/office/drawing/2014/main" id="{0C04B270-BAFD-2B13-AD89-43CD8A3795A0}"/>
                </a:ext>
              </a:extLst>
            </p:cNvPr>
            <p:cNvSpPr/>
            <p:nvPr/>
          </p:nvSpPr>
          <p:spPr>
            <a:xfrm>
              <a:off x="6025722" y="3955349"/>
              <a:ext cx="1332000" cy="184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63" name="직사각형 19462">
              <a:extLst>
                <a:ext uri="{FF2B5EF4-FFF2-40B4-BE49-F238E27FC236}">
                  <a16:creationId xmlns:a16="http://schemas.microsoft.com/office/drawing/2014/main" id="{92BBB317-7161-4401-A15C-BC4B2055DF8A}"/>
                </a:ext>
              </a:extLst>
            </p:cNvPr>
            <p:cNvSpPr/>
            <p:nvPr/>
          </p:nvSpPr>
          <p:spPr>
            <a:xfrm>
              <a:off x="6144018" y="4153073"/>
              <a:ext cx="997207" cy="495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성능 평가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보고서 시공 생성</a:t>
              </a:r>
            </a:p>
          </p:txBody>
        </p:sp>
        <p:sp>
          <p:nvSpPr>
            <p:cNvPr id="19464" name="직사각형 19463">
              <a:extLst>
                <a:ext uri="{FF2B5EF4-FFF2-40B4-BE49-F238E27FC236}">
                  <a16:creationId xmlns:a16="http://schemas.microsoft.com/office/drawing/2014/main" id="{79D34C5B-6221-7F29-008D-BA70770A9075}"/>
                </a:ext>
              </a:extLst>
            </p:cNvPr>
            <p:cNvSpPr/>
            <p:nvPr/>
          </p:nvSpPr>
          <p:spPr>
            <a:xfrm>
              <a:off x="6032280" y="3831755"/>
              <a:ext cx="1332000" cy="2322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시공 및 시공준비</a:t>
              </a:r>
            </a:p>
          </p:txBody>
        </p:sp>
        <p:sp>
          <p:nvSpPr>
            <p:cNvPr id="19465" name="직사각형 19464">
              <a:extLst>
                <a:ext uri="{FF2B5EF4-FFF2-40B4-BE49-F238E27FC236}">
                  <a16:creationId xmlns:a16="http://schemas.microsoft.com/office/drawing/2014/main" id="{A3737F41-41EB-B50C-260F-A9D4BA8AC453}"/>
                </a:ext>
              </a:extLst>
            </p:cNvPr>
            <p:cNvSpPr/>
            <p:nvPr/>
          </p:nvSpPr>
          <p:spPr>
            <a:xfrm>
              <a:off x="6174875" y="4728640"/>
              <a:ext cx="966350" cy="4627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법적 심사 요청</a:t>
              </a:r>
            </a:p>
          </p:txBody>
        </p:sp>
        <p:sp>
          <p:nvSpPr>
            <p:cNvPr id="19467" name="직사각형 19466">
              <a:extLst>
                <a:ext uri="{FF2B5EF4-FFF2-40B4-BE49-F238E27FC236}">
                  <a16:creationId xmlns:a16="http://schemas.microsoft.com/office/drawing/2014/main" id="{0EFC6DB5-8868-34E7-B6BF-4EFE8EC3F8C6}"/>
                </a:ext>
              </a:extLst>
            </p:cNvPr>
            <p:cNvSpPr/>
            <p:nvPr/>
          </p:nvSpPr>
          <p:spPr>
            <a:xfrm>
              <a:off x="6158704" y="5287817"/>
              <a:ext cx="962243" cy="39847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최적 시공법 추진</a:t>
              </a:r>
            </a:p>
          </p:txBody>
        </p:sp>
      </p:grpSp>
      <p:grpSp>
        <p:nvGrpSpPr>
          <p:cNvPr id="19468" name="그룹 19467">
            <a:extLst>
              <a:ext uri="{FF2B5EF4-FFF2-40B4-BE49-F238E27FC236}">
                <a16:creationId xmlns:a16="http://schemas.microsoft.com/office/drawing/2014/main" id="{8E3C2EA0-2F6C-571B-CFE1-9D5FE2D7F855}"/>
              </a:ext>
            </a:extLst>
          </p:cNvPr>
          <p:cNvGrpSpPr/>
          <p:nvPr/>
        </p:nvGrpSpPr>
        <p:grpSpPr>
          <a:xfrm>
            <a:off x="656355" y="432348"/>
            <a:ext cx="1440000" cy="2880000"/>
            <a:chOff x="1000200" y="1609523"/>
            <a:chExt cx="1728192" cy="3321976"/>
          </a:xfrm>
        </p:grpSpPr>
        <p:sp>
          <p:nvSpPr>
            <p:cNvPr id="19469" name="직사각형 19468">
              <a:extLst>
                <a:ext uri="{FF2B5EF4-FFF2-40B4-BE49-F238E27FC236}">
                  <a16:creationId xmlns:a16="http://schemas.microsoft.com/office/drawing/2014/main" id="{9950D9C3-28E5-3A6A-676F-4D14E8F06C5D}"/>
                </a:ext>
              </a:extLst>
            </p:cNvPr>
            <p:cNvSpPr/>
            <p:nvPr/>
          </p:nvSpPr>
          <p:spPr>
            <a:xfrm>
              <a:off x="1000200" y="1906605"/>
              <a:ext cx="1728192" cy="30248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70" name="직사각형 19469">
              <a:extLst>
                <a:ext uri="{FF2B5EF4-FFF2-40B4-BE49-F238E27FC236}">
                  <a16:creationId xmlns:a16="http://schemas.microsoft.com/office/drawing/2014/main" id="{0EBAA3B6-A240-2B95-7136-0891FA6B3C65}"/>
                </a:ext>
              </a:extLst>
            </p:cNvPr>
            <p:cNvSpPr/>
            <p:nvPr/>
          </p:nvSpPr>
          <p:spPr>
            <a:xfrm>
              <a:off x="1172740" y="2043660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프로젝트 기획 및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의뢰 접수</a:t>
              </a:r>
            </a:p>
          </p:txBody>
        </p:sp>
        <p:sp>
          <p:nvSpPr>
            <p:cNvPr id="19471" name="직사각형 19470">
              <a:extLst>
                <a:ext uri="{FF2B5EF4-FFF2-40B4-BE49-F238E27FC236}">
                  <a16:creationId xmlns:a16="http://schemas.microsoft.com/office/drawing/2014/main" id="{95A56032-42E3-4F82-D8E5-01A34FC2F42F}"/>
                </a:ext>
              </a:extLst>
            </p:cNvPr>
            <p:cNvSpPr/>
            <p:nvPr/>
          </p:nvSpPr>
          <p:spPr>
            <a:xfrm>
              <a:off x="1000200" y="1609523"/>
              <a:ext cx="1728192" cy="2873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기획 단계</a:t>
              </a:r>
            </a:p>
          </p:txBody>
        </p:sp>
        <p:sp>
          <p:nvSpPr>
            <p:cNvPr id="19472" name="직사각형 19471">
              <a:extLst>
                <a:ext uri="{FF2B5EF4-FFF2-40B4-BE49-F238E27FC236}">
                  <a16:creationId xmlns:a16="http://schemas.microsoft.com/office/drawing/2014/main" id="{E665E0D9-93F8-222C-EC01-29297805DBA2}"/>
                </a:ext>
              </a:extLst>
            </p:cNvPr>
            <p:cNvSpPr/>
            <p:nvPr/>
          </p:nvSpPr>
          <p:spPr>
            <a:xfrm>
              <a:off x="1163104" y="2766116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 err="1">
                  <a:solidFill>
                    <a:schemeClr val="tx1"/>
                  </a:solidFill>
                  <a:latin typeface="+mn-ea"/>
                </a:rPr>
                <a:t>건축주</a:t>
              </a:r>
              <a:r>
                <a:rPr kumimoji="0"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클라이언트</a:t>
              </a:r>
              <a:r>
                <a:rPr kumimoji="0"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요구사항 분석</a:t>
              </a:r>
            </a:p>
          </p:txBody>
        </p:sp>
        <p:sp>
          <p:nvSpPr>
            <p:cNvPr id="19473" name="직사각형 19472">
              <a:extLst>
                <a:ext uri="{FF2B5EF4-FFF2-40B4-BE49-F238E27FC236}">
                  <a16:creationId xmlns:a16="http://schemas.microsoft.com/office/drawing/2014/main" id="{5C80138A-A098-ABDB-4145-7EEC189959B1}"/>
                </a:ext>
              </a:extLst>
            </p:cNvPr>
            <p:cNvSpPr/>
            <p:nvPr/>
          </p:nvSpPr>
          <p:spPr>
            <a:xfrm>
              <a:off x="1161353" y="4220079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설계 및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설계 방향 설정</a:t>
              </a:r>
            </a:p>
          </p:txBody>
        </p:sp>
        <p:sp>
          <p:nvSpPr>
            <p:cNvPr id="19474" name="직사각형 19473">
              <a:extLst>
                <a:ext uri="{FF2B5EF4-FFF2-40B4-BE49-F238E27FC236}">
                  <a16:creationId xmlns:a16="http://schemas.microsoft.com/office/drawing/2014/main" id="{3E32412A-9FDA-BFE8-57FE-EA11D49C0D17}"/>
                </a:ext>
              </a:extLst>
            </p:cNvPr>
            <p:cNvSpPr/>
            <p:nvPr/>
          </p:nvSpPr>
          <p:spPr>
            <a:xfrm>
              <a:off x="1168006" y="3464998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건축 부지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위치 입력</a:t>
              </a:r>
            </a:p>
          </p:txBody>
        </p:sp>
      </p:grpSp>
      <p:grpSp>
        <p:nvGrpSpPr>
          <p:cNvPr id="19512" name="그룹 19511">
            <a:extLst>
              <a:ext uri="{FF2B5EF4-FFF2-40B4-BE49-F238E27FC236}">
                <a16:creationId xmlns:a16="http://schemas.microsoft.com/office/drawing/2014/main" id="{FE5AF057-0A76-06D3-6ADF-3D758F8805EB}"/>
              </a:ext>
            </a:extLst>
          </p:cNvPr>
          <p:cNvGrpSpPr/>
          <p:nvPr/>
        </p:nvGrpSpPr>
        <p:grpSpPr>
          <a:xfrm>
            <a:off x="7762206" y="3762892"/>
            <a:ext cx="1440000" cy="1800000"/>
            <a:chOff x="7846948" y="3753203"/>
            <a:chExt cx="1440000" cy="2072162"/>
          </a:xfrm>
        </p:grpSpPr>
        <p:sp>
          <p:nvSpPr>
            <p:cNvPr id="19476" name="직사각형 19475">
              <a:extLst>
                <a:ext uri="{FF2B5EF4-FFF2-40B4-BE49-F238E27FC236}">
                  <a16:creationId xmlns:a16="http://schemas.microsoft.com/office/drawing/2014/main" id="{07174F6D-1E01-0CF3-FE39-32D8C8875AEF}"/>
                </a:ext>
              </a:extLst>
            </p:cNvPr>
            <p:cNvSpPr/>
            <p:nvPr/>
          </p:nvSpPr>
          <p:spPr>
            <a:xfrm>
              <a:off x="7846948" y="3978565"/>
              <a:ext cx="1440000" cy="184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77" name="직사각형 19476">
              <a:extLst>
                <a:ext uri="{FF2B5EF4-FFF2-40B4-BE49-F238E27FC236}">
                  <a16:creationId xmlns:a16="http://schemas.microsoft.com/office/drawing/2014/main" id="{561A83EA-EEC0-175C-146F-1461FDE3CA69}"/>
                </a:ext>
              </a:extLst>
            </p:cNvPr>
            <p:cNvSpPr/>
            <p:nvPr/>
          </p:nvSpPr>
          <p:spPr>
            <a:xfrm>
              <a:off x="7990715" y="4082533"/>
              <a:ext cx="1104156" cy="4509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완공 후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관리시작</a:t>
              </a:r>
            </a:p>
          </p:txBody>
        </p:sp>
        <p:sp>
          <p:nvSpPr>
            <p:cNvPr id="19478" name="직사각형 19477">
              <a:extLst>
                <a:ext uri="{FF2B5EF4-FFF2-40B4-BE49-F238E27FC236}">
                  <a16:creationId xmlns:a16="http://schemas.microsoft.com/office/drawing/2014/main" id="{D72A0114-D388-62FD-D420-894AB60AE3CD}"/>
                </a:ext>
              </a:extLst>
            </p:cNvPr>
            <p:cNvSpPr/>
            <p:nvPr/>
          </p:nvSpPr>
          <p:spPr>
            <a:xfrm>
              <a:off x="7846948" y="3753203"/>
              <a:ext cx="1440000" cy="217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시공 및 </a:t>
              </a:r>
              <a:r>
                <a:rPr kumimoji="0" lang="ko-KR" altLang="en-US" sz="1000" b="1" dirty="0" err="1">
                  <a:solidFill>
                    <a:schemeClr val="tx1"/>
                  </a:solidFill>
                  <a:latin typeface="+mn-ea"/>
                </a:rPr>
                <a:t>검리</a:t>
              </a:r>
              <a:endParaRPr kumimoji="0" lang="ko-KR" altLang="en-US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79" name="직사각형 19478">
              <a:extLst>
                <a:ext uri="{FF2B5EF4-FFF2-40B4-BE49-F238E27FC236}">
                  <a16:creationId xmlns:a16="http://schemas.microsoft.com/office/drawing/2014/main" id="{7B6AA7EE-3CED-C249-54CC-0E822560A16E}"/>
                </a:ext>
              </a:extLst>
            </p:cNvPr>
            <p:cNvSpPr/>
            <p:nvPr/>
          </p:nvSpPr>
          <p:spPr>
            <a:xfrm>
              <a:off x="7982686" y="4630577"/>
              <a:ext cx="1104156" cy="4509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지질 모니터링 시스템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81" name="직사각형 19480">
              <a:extLst>
                <a:ext uri="{FF2B5EF4-FFF2-40B4-BE49-F238E27FC236}">
                  <a16:creationId xmlns:a16="http://schemas.microsoft.com/office/drawing/2014/main" id="{888DC113-A2DD-1949-A1C7-BD7E71EDEBA9}"/>
                </a:ext>
              </a:extLst>
            </p:cNvPr>
            <p:cNvSpPr/>
            <p:nvPr/>
          </p:nvSpPr>
          <p:spPr>
            <a:xfrm>
              <a:off x="7986771" y="5160738"/>
              <a:ext cx="1104156" cy="4509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구조 검토 및 보완</a:t>
              </a:r>
            </a:p>
          </p:txBody>
        </p:sp>
      </p:grpSp>
      <p:grpSp>
        <p:nvGrpSpPr>
          <p:cNvPr id="19489" name="그룹 19488">
            <a:extLst>
              <a:ext uri="{FF2B5EF4-FFF2-40B4-BE49-F238E27FC236}">
                <a16:creationId xmlns:a16="http://schemas.microsoft.com/office/drawing/2014/main" id="{8314AC98-BFE6-4A9E-4955-6F2B798A4AE2}"/>
              </a:ext>
            </a:extLst>
          </p:cNvPr>
          <p:cNvGrpSpPr/>
          <p:nvPr/>
        </p:nvGrpSpPr>
        <p:grpSpPr>
          <a:xfrm>
            <a:off x="9750909" y="415572"/>
            <a:ext cx="873650" cy="5147320"/>
            <a:chOff x="1000200" y="1609523"/>
            <a:chExt cx="1728192" cy="3321976"/>
          </a:xfrm>
        </p:grpSpPr>
        <p:sp>
          <p:nvSpPr>
            <p:cNvPr id="19490" name="직사각형 19489">
              <a:extLst>
                <a:ext uri="{FF2B5EF4-FFF2-40B4-BE49-F238E27FC236}">
                  <a16:creationId xmlns:a16="http://schemas.microsoft.com/office/drawing/2014/main" id="{B3B86DC5-A025-D50A-2351-698F14E6B67A}"/>
                </a:ext>
              </a:extLst>
            </p:cNvPr>
            <p:cNvSpPr/>
            <p:nvPr/>
          </p:nvSpPr>
          <p:spPr>
            <a:xfrm>
              <a:off x="1000200" y="1906605"/>
              <a:ext cx="1728192" cy="30248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491" name="직사각형 19490">
              <a:extLst>
                <a:ext uri="{FF2B5EF4-FFF2-40B4-BE49-F238E27FC236}">
                  <a16:creationId xmlns:a16="http://schemas.microsoft.com/office/drawing/2014/main" id="{3BCB8DF3-77A8-675C-03C6-3EDA032EAD89}"/>
                </a:ext>
              </a:extLst>
            </p:cNvPr>
            <p:cNvSpPr/>
            <p:nvPr/>
          </p:nvSpPr>
          <p:spPr>
            <a:xfrm>
              <a:off x="1172740" y="2043660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완공 후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유지 관리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492" name="직사각형 19491">
              <a:extLst>
                <a:ext uri="{FF2B5EF4-FFF2-40B4-BE49-F238E27FC236}">
                  <a16:creationId xmlns:a16="http://schemas.microsoft.com/office/drawing/2014/main" id="{8642B1DC-D9D8-21F6-C7CC-A53A7D85859D}"/>
                </a:ext>
              </a:extLst>
            </p:cNvPr>
            <p:cNvSpPr/>
            <p:nvPr/>
          </p:nvSpPr>
          <p:spPr>
            <a:xfrm>
              <a:off x="1000200" y="1609523"/>
              <a:ext cx="1728192" cy="2873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완공 및</a:t>
              </a:r>
              <a:endParaRPr kumimoji="0" lang="en-US" altLang="ko-KR" sz="1000" b="1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+mn-ea"/>
                </a:rPr>
                <a:t>유지 관리</a:t>
              </a:r>
            </a:p>
          </p:txBody>
        </p:sp>
        <p:sp>
          <p:nvSpPr>
            <p:cNvPr id="19495" name="직사각형 19494">
              <a:extLst>
                <a:ext uri="{FF2B5EF4-FFF2-40B4-BE49-F238E27FC236}">
                  <a16:creationId xmlns:a16="http://schemas.microsoft.com/office/drawing/2014/main" id="{1BA5C117-867A-0A00-E3D6-127AB5BB1136}"/>
                </a:ext>
              </a:extLst>
            </p:cNvPr>
            <p:cNvSpPr/>
            <p:nvPr/>
          </p:nvSpPr>
          <p:spPr>
            <a:xfrm>
              <a:off x="1168006" y="3464998"/>
              <a:ext cx="1325134" cy="5944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/>
                  </a:solidFill>
                  <a:latin typeface="+mn-ea"/>
                </a:rPr>
                <a:t>IoT </a:t>
              </a: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기반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실시간 </a:t>
              </a:r>
              <a:endParaRPr kumimoji="0"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점검 설정</a:t>
              </a:r>
            </a:p>
          </p:txBody>
        </p:sp>
      </p:grpSp>
      <p:grpSp>
        <p:nvGrpSpPr>
          <p:cNvPr id="19507" name="그룹 19506">
            <a:extLst>
              <a:ext uri="{FF2B5EF4-FFF2-40B4-BE49-F238E27FC236}">
                <a16:creationId xmlns:a16="http://schemas.microsoft.com/office/drawing/2014/main" id="{9F476277-6C85-BE78-A40E-ECBDB2A790FD}"/>
              </a:ext>
            </a:extLst>
          </p:cNvPr>
          <p:cNvGrpSpPr/>
          <p:nvPr/>
        </p:nvGrpSpPr>
        <p:grpSpPr>
          <a:xfrm>
            <a:off x="7737369" y="415572"/>
            <a:ext cx="1440000" cy="2880000"/>
            <a:chOff x="7396751" y="415572"/>
            <a:chExt cx="2102499" cy="3007447"/>
          </a:xfrm>
        </p:grpSpPr>
        <p:grpSp>
          <p:nvGrpSpPr>
            <p:cNvPr id="19482" name="그룹 19481">
              <a:extLst>
                <a:ext uri="{FF2B5EF4-FFF2-40B4-BE49-F238E27FC236}">
                  <a16:creationId xmlns:a16="http://schemas.microsoft.com/office/drawing/2014/main" id="{43D38D59-D7C8-CAC5-1B80-DB2B451720FB}"/>
                </a:ext>
              </a:extLst>
            </p:cNvPr>
            <p:cNvGrpSpPr/>
            <p:nvPr/>
          </p:nvGrpSpPr>
          <p:grpSpPr>
            <a:xfrm>
              <a:off x="7396751" y="415572"/>
              <a:ext cx="2102499" cy="3007447"/>
              <a:chOff x="1000200" y="1609523"/>
              <a:chExt cx="1728192" cy="3321976"/>
            </a:xfrm>
          </p:grpSpPr>
          <p:sp>
            <p:nvSpPr>
              <p:cNvPr id="19483" name="직사각형 19482">
                <a:extLst>
                  <a:ext uri="{FF2B5EF4-FFF2-40B4-BE49-F238E27FC236}">
                    <a16:creationId xmlns:a16="http://schemas.microsoft.com/office/drawing/2014/main" id="{3520250F-4AB8-FD0A-4766-2DCFE81AF48D}"/>
                  </a:ext>
                </a:extLst>
              </p:cNvPr>
              <p:cNvSpPr/>
              <p:nvPr/>
            </p:nvSpPr>
            <p:spPr>
              <a:xfrm>
                <a:off x="1000200" y="1906605"/>
                <a:ext cx="1728192" cy="302489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9484" name="직사각형 19483">
                <a:extLst>
                  <a:ext uri="{FF2B5EF4-FFF2-40B4-BE49-F238E27FC236}">
                    <a16:creationId xmlns:a16="http://schemas.microsoft.com/office/drawing/2014/main" id="{E574BD4A-A01E-8639-6D0E-0B97EE1F8E45}"/>
                  </a:ext>
                </a:extLst>
              </p:cNvPr>
              <p:cNvSpPr/>
              <p:nvPr/>
            </p:nvSpPr>
            <p:spPr>
              <a:xfrm>
                <a:off x="1188977" y="2043661"/>
                <a:ext cx="1346851" cy="3599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시공사 및 협력 업체 협의</a:t>
                </a:r>
                <a:endParaRPr kumimoji="0" lang="en-US" altLang="ko-KR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9485" name="직사각형 19484">
                <a:extLst>
                  <a:ext uri="{FF2B5EF4-FFF2-40B4-BE49-F238E27FC236}">
                    <a16:creationId xmlns:a16="http://schemas.microsoft.com/office/drawing/2014/main" id="{45482906-51A5-0330-79E4-FED4D8AAA5CF}"/>
                  </a:ext>
                </a:extLst>
              </p:cNvPr>
              <p:cNvSpPr/>
              <p:nvPr/>
            </p:nvSpPr>
            <p:spPr>
              <a:xfrm>
                <a:off x="1000200" y="1609523"/>
                <a:ext cx="1728192" cy="2873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b="1" dirty="0">
                    <a:solidFill>
                      <a:schemeClr val="tx1"/>
                    </a:solidFill>
                    <a:latin typeface="+mn-ea"/>
                  </a:rPr>
                  <a:t>인허가 및 시공 준비</a:t>
                </a:r>
                <a:r>
                  <a:rPr kumimoji="0" lang="en-US" altLang="ko-KR" sz="10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kumimoji="0" lang="ko-KR" altLang="en-US" sz="1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9486" name="직사각형 19485">
                <a:extLst>
                  <a:ext uri="{FF2B5EF4-FFF2-40B4-BE49-F238E27FC236}">
                    <a16:creationId xmlns:a16="http://schemas.microsoft.com/office/drawing/2014/main" id="{434814F0-846E-84FF-5D41-C8B4B3BF1A7B}"/>
                  </a:ext>
                </a:extLst>
              </p:cNvPr>
              <p:cNvSpPr/>
              <p:nvPr/>
            </p:nvSpPr>
            <p:spPr>
              <a:xfrm>
                <a:off x="1188980" y="2673617"/>
                <a:ext cx="1346851" cy="35995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공사 감리 및</a:t>
                </a:r>
                <a:r>
                  <a:rPr kumimoji="0" lang="en-US" altLang="ko-KR" sz="10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시공 관리</a:t>
                </a:r>
              </a:p>
            </p:txBody>
          </p:sp>
          <p:sp>
            <p:nvSpPr>
              <p:cNvPr id="19487" name="직사각형 19486">
                <a:extLst>
                  <a:ext uri="{FF2B5EF4-FFF2-40B4-BE49-F238E27FC236}">
                    <a16:creationId xmlns:a16="http://schemas.microsoft.com/office/drawing/2014/main" id="{602ED722-6C7A-A3C6-EF69-206FD3CFB9A9}"/>
                  </a:ext>
                </a:extLst>
              </p:cNvPr>
              <p:cNvSpPr/>
              <p:nvPr/>
            </p:nvSpPr>
            <p:spPr>
              <a:xfrm>
                <a:off x="1188980" y="3707501"/>
                <a:ext cx="1346848" cy="33548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시공사 선정 및</a:t>
                </a:r>
                <a:r>
                  <a:rPr kumimoji="0" lang="en-US" altLang="ko-KR" sz="10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계약</a:t>
                </a:r>
              </a:p>
            </p:txBody>
          </p:sp>
          <p:sp>
            <p:nvSpPr>
              <p:cNvPr id="19488" name="직사각형 19487">
                <a:extLst>
                  <a:ext uri="{FF2B5EF4-FFF2-40B4-BE49-F238E27FC236}">
                    <a16:creationId xmlns:a16="http://schemas.microsoft.com/office/drawing/2014/main" id="{23ADF4E9-6E8B-C88C-D7A7-CE2DB350E76D}"/>
                  </a:ext>
                </a:extLst>
              </p:cNvPr>
              <p:cNvSpPr/>
              <p:nvPr/>
            </p:nvSpPr>
            <p:spPr>
              <a:xfrm>
                <a:off x="1188980" y="3237137"/>
                <a:ext cx="1346851" cy="28633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법적 심사 및</a:t>
                </a:r>
                <a:r>
                  <a:rPr kumimoji="0" lang="en-US" altLang="ko-KR" sz="100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kumimoji="0" lang="ko-KR" altLang="en-US" sz="1000" dirty="0">
                    <a:solidFill>
                      <a:schemeClr val="tx1"/>
                    </a:solidFill>
                    <a:latin typeface="+mn-ea"/>
                  </a:rPr>
                  <a:t>조정</a:t>
                </a:r>
              </a:p>
            </p:txBody>
          </p:sp>
        </p:grpSp>
        <p:sp>
          <p:nvSpPr>
            <p:cNvPr id="19503" name="직사각형 19502">
              <a:extLst>
                <a:ext uri="{FF2B5EF4-FFF2-40B4-BE49-F238E27FC236}">
                  <a16:creationId xmlns:a16="http://schemas.microsoft.com/office/drawing/2014/main" id="{B618252F-8CD5-7602-4DB7-C49528D6FBE2}"/>
                </a:ext>
              </a:extLst>
            </p:cNvPr>
            <p:cNvSpPr/>
            <p:nvPr/>
          </p:nvSpPr>
          <p:spPr>
            <a:xfrm>
              <a:off x="7623307" y="2897200"/>
              <a:ext cx="1638560" cy="3037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/>
                  </a:solidFill>
                  <a:latin typeface="+mn-ea"/>
                </a:rPr>
                <a:t>내진 성능 설계 추천</a:t>
              </a:r>
            </a:p>
          </p:txBody>
        </p:sp>
      </p:grpSp>
      <p:cxnSp>
        <p:nvCxnSpPr>
          <p:cNvPr id="50" name="직선 화살표 연결선 9"/>
          <p:cNvCxnSpPr>
            <a:cxnSpLocks noChangeShapeType="1"/>
            <a:stCxn id="19470" idx="3"/>
            <a:endCxn id="37" idx="1"/>
          </p:cNvCxnSpPr>
          <p:nvPr/>
        </p:nvCxnSpPr>
        <p:spPr bwMode="auto">
          <a:xfrm>
            <a:off x="1904278" y="1066406"/>
            <a:ext cx="886679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14" name="직선 화살표 연결선 9">
            <a:extLst>
              <a:ext uri="{FF2B5EF4-FFF2-40B4-BE49-F238E27FC236}">
                <a16:creationId xmlns:a16="http://schemas.microsoft.com/office/drawing/2014/main" id="{1956787F-1442-8BBD-9713-40F6D44CA0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38210" y="1163592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2" name="직선 화살표 연결선 9">
            <a:extLst>
              <a:ext uri="{FF2B5EF4-FFF2-40B4-BE49-F238E27FC236}">
                <a16:creationId xmlns:a16="http://schemas.microsoft.com/office/drawing/2014/main" id="{51307DF4-23CC-5986-6663-806D72B1327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78032" y="1770815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3" name="직선 화살표 연결선 9">
            <a:extLst>
              <a:ext uri="{FF2B5EF4-FFF2-40B4-BE49-F238E27FC236}">
                <a16:creationId xmlns:a16="http://schemas.microsoft.com/office/drawing/2014/main" id="{D4903087-817E-778A-62AB-F1B9F56AD0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43035" y="2454654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" name="직선 화살표 연결선 9">
            <a:extLst>
              <a:ext uri="{FF2B5EF4-FFF2-40B4-BE49-F238E27FC236}">
                <a16:creationId xmlns:a16="http://schemas.microsoft.com/office/drawing/2014/main" id="{D45A651D-D176-E021-AA70-8281C67686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92616" y="1262637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" name="직선 화살표 연결선 9">
            <a:extLst>
              <a:ext uri="{FF2B5EF4-FFF2-40B4-BE49-F238E27FC236}">
                <a16:creationId xmlns:a16="http://schemas.microsoft.com/office/drawing/2014/main" id="{EF94469E-4045-B61E-3977-FE7210DA5FC4}"/>
              </a:ext>
            </a:extLst>
          </p:cNvPr>
          <p:cNvCxnSpPr>
            <a:cxnSpLocks noChangeShapeType="1"/>
            <a:endCxn id="74" idx="0"/>
          </p:cNvCxnSpPr>
          <p:nvPr/>
        </p:nvCxnSpPr>
        <p:spPr bwMode="auto">
          <a:xfrm>
            <a:off x="5002542" y="1873194"/>
            <a:ext cx="17739" cy="187260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" name="직선 화살표 연결선 9">
            <a:extLst>
              <a:ext uri="{FF2B5EF4-FFF2-40B4-BE49-F238E27FC236}">
                <a16:creationId xmlns:a16="http://schemas.microsoft.com/office/drawing/2014/main" id="{63A09E34-6BBA-37CE-0A56-1F84D0EDEC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33547" y="4364037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9" name="직선 화살표 연결선 9">
            <a:extLst>
              <a:ext uri="{FF2B5EF4-FFF2-40B4-BE49-F238E27FC236}">
                <a16:creationId xmlns:a16="http://schemas.microsoft.com/office/drawing/2014/main" id="{E2F59F4A-37F7-2171-FC29-A18ED2C6E9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33547" y="4873373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0" name="직선 화살표 연결선 9">
            <a:extLst>
              <a:ext uri="{FF2B5EF4-FFF2-40B4-BE49-F238E27FC236}">
                <a16:creationId xmlns:a16="http://schemas.microsoft.com/office/drawing/2014/main" id="{2E9E29A3-8CD9-84D2-BDB2-4B18CB2673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33607" y="4378492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" name="직선 화살표 연결선 9">
            <a:extLst>
              <a:ext uri="{FF2B5EF4-FFF2-40B4-BE49-F238E27FC236}">
                <a16:creationId xmlns:a16="http://schemas.microsoft.com/office/drawing/2014/main" id="{733A41FF-C51D-816F-300B-D56C86EF93EA}"/>
              </a:ext>
            </a:extLst>
          </p:cNvPr>
          <p:cNvCxnSpPr>
            <a:cxnSpLocks noChangeShapeType="1"/>
            <a:endCxn id="22" idx="0"/>
          </p:cNvCxnSpPr>
          <p:nvPr/>
        </p:nvCxnSpPr>
        <p:spPr bwMode="auto">
          <a:xfrm flipH="1">
            <a:off x="6760823" y="1905887"/>
            <a:ext cx="9488" cy="786703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3" name="직선 화살표 연결선 9">
            <a:extLst>
              <a:ext uri="{FF2B5EF4-FFF2-40B4-BE49-F238E27FC236}">
                <a16:creationId xmlns:a16="http://schemas.microsoft.com/office/drawing/2014/main" id="{B3FC90B0-0737-1F5B-F9BA-6447224E8D3A}"/>
              </a:ext>
            </a:extLst>
          </p:cNvPr>
          <p:cNvCxnSpPr>
            <a:cxnSpLocks noChangeShapeType="1"/>
            <a:endCxn id="19464" idx="0"/>
          </p:cNvCxnSpPr>
          <p:nvPr/>
        </p:nvCxnSpPr>
        <p:spPr bwMode="auto">
          <a:xfrm flipH="1">
            <a:off x="6773839" y="3224005"/>
            <a:ext cx="20627" cy="529198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" name="직선 화살표 연결선 9">
            <a:extLst>
              <a:ext uri="{FF2B5EF4-FFF2-40B4-BE49-F238E27FC236}">
                <a16:creationId xmlns:a16="http://schemas.microsoft.com/office/drawing/2014/main" id="{919FA439-C02E-DD65-1B97-F272D597C0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41338" y="4916744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6" name="직선 화살표 연결선 9">
            <a:extLst>
              <a:ext uri="{FF2B5EF4-FFF2-40B4-BE49-F238E27FC236}">
                <a16:creationId xmlns:a16="http://schemas.microsoft.com/office/drawing/2014/main" id="{18C36D22-473F-B35D-622E-8F05DA9E58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0559" y="4438301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7" name="직선 화살표 연결선 9">
            <a:extLst>
              <a:ext uri="{FF2B5EF4-FFF2-40B4-BE49-F238E27FC236}">
                <a16:creationId xmlns:a16="http://schemas.microsoft.com/office/drawing/2014/main" id="{85EE6282-395E-F45D-C66F-F78DCC99FD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71361" y="4318470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" name="직선 화살표 연결선 9">
            <a:extLst>
              <a:ext uri="{FF2B5EF4-FFF2-40B4-BE49-F238E27FC236}">
                <a16:creationId xmlns:a16="http://schemas.microsoft.com/office/drawing/2014/main" id="{252CD957-8E47-4DDB-F289-FE00209087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50022" y="1074287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9" name="직선 화살표 연결선 9">
            <a:extLst>
              <a:ext uri="{FF2B5EF4-FFF2-40B4-BE49-F238E27FC236}">
                <a16:creationId xmlns:a16="http://schemas.microsoft.com/office/drawing/2014/main" id="{0996E84B-1398-B786-15C7-694290F97D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71361" y="1603050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0" name="직선 화살표 연결선 9">
            <a:extLst>
              <a:ext uri="{FF2B5EF4-FFF2-40B4-BE49-F238E27FC236}">
                <a16:creationId xmlns:a16="http://schemas.microsoft.com/office/drawing/2014/main" id="{9117BDCB-AC79-AEAC-5575-CF1C69A42A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88452" y="2028496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1" name="직선 화살표 연결선 9">
            <a:extLst>
              <a:ext uri="{FF2B5EF4-FFF2-40B4-BE49-F238E27FC236}">
                <a16:creationId xmlns:a16="http://schemas.microsoft.com/office/drawing/2014/main" id="{FB9F2FBB-4208-6958-D499-92030BB576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72161" y="2556321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2" name="직선 화살표 연결선 9">
            <a:extLst>
              <a:ext uri="{FF2B5EF4-FFF2-40B4-BE49-F238E27FC236}">
                <a16:creationId xmlns:a16="http://schemas.microsoft.com/office/drawing/2014/main" id="{9119E39B-C767-2F03-B3B5-53152D88C380}"/>
              </a:ext>
            </a:extLst>
          </p:cNvPr>
          <p:cNvCxnSpPr>
            <a:cxnSpLocks noChangeShapeType="1"/>
            <a:endCxn id="19495" idx="0"/>
          </p:cNvCxnSpPr>
          <p:nvPr/>
        </p:nvCxnSpPr>
        <p:spPr bwMode="auto">
          <a:xfrm>
            <a:off x="10168343" y="2093112"/>
            <a:ext cx="2344" cy="1197473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4" name="직선 화살표 연결선 9">
            <a:extLst>
              <a:ext uri="{FF2B5EF4-FFF2-40B4-BE49-F238E27FC236}">
                <a16:creationId xmlns:a16="http://schemas.microsoft.com/office/drawing/2014/main" id="{0C4595A0-D878-7565-ACB1-F694D2C60E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487577" y="4781672"/>
            <a:ext cx="0" cy="270144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" name="직선 화살표 연결선 9">
            <a:extLst>
              <a:ext uri="{FF2B5EF4-FFF2-40B4-BE49-F238E27FC236}">
                <a16:creationId xmlns:a16="http://schemas.microsoft.com/office/drawing/2014/main" id="{E245DB11-5447-F0A1-1C14-D9072E87A3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78537" y="1088257"/>
            <a:ext cx="574622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7" name="직선 화살표 연결선 9">
            <a:extLst>
              <a:ext uri="{FF2B5EF4-FFF2-40B4-BE49-F238E27FC236}">
                <a16:creationId xmlns:a16="http://schemas.microsoft.com/office/drawing/2014/main" id="{B22CC877-D6C4-5369-DA03-A09624948C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43935" y="1088257"/>
            <a:ext cx="574622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" name="직선 화살표 연결선 9">
            <a:extLst>
              <a:ext uri="{FF2B5EF4-FFF2-40B4-BE49-F238E27FC236}">
                <a16:creationId xmlns:a16="http://schemas.microsoft.com/office/drawing/2014/main" id="{88756453-61AF-D0A8-E2E9-D9323765C2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89597" y="984176"/>
            <a:ext cx="574622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9" name="직선 화살표 연결선 9">
            <a:extLst>
              <a:ext uri="{FF2B5EF4-FFF2-40B4-BE49-F238E27FC236}">
                <a16:creationId xmlns:a16="http://schemas.microsoft.com/office/drawing/2014/main" id="{3432B2ED-02DE-8880-DE5E-DB7B838680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27407" y="2928392"/>
            <a:ext cx="574622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0" name="직선 화살표 연결선 9">
            <a:extLst>
              <a:ext uri="{FF2B5EF4-FFF2-40B4-BE49-F238E27FC236}">
                <a16:creationId xmlns:a16="http://schemas.microsoft.com/office/drawing/2014/main" id="{C14D24ED-5A12-D7EB-213D-DAF386232B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89597" y="4781672"/>
            <a:ext cx="574622" cy="0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" name="직선 화살표 연결선 9">
            <a:extLst>
              <a:ext uri="{FF2B5EF4-FFF2-40B4-BE49-F238E27FC236}">
                <a16:creationId xmlns:a16="http://schemas.microsoft.com/office/drawing/2014/main" id="{1C1AE88D-C965-5356-DCD3-862C3B4D1FD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02100" y="1770815"/>
            <a:ext cx="833640" cy="221979"/>
          </a:xfrm>
          <a:prstGeom prst="straightConnector1">
            <a:avLst/>
          </a:prstGeom>
          <a:noFill/>
          <a:ln w="3175" algn="ctr">
            <a:solidFill>
              <a:srgbClr val="4D4D4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wrap="none" anchor="ctr"/>
      <a:lstStyle>
        <a:defPPr algn="ctr" fontAlgn="auto">
          <a:spcBef>
            <a:spcPts val="0"/>
          </a:spcBef>
          <a:spcAft>
            <a:spcPts val="0"/>
          </a:spcAft>
          <a:defRPr kumimoji="0" sz="1000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3175" algn="ctr">
          <a:solidFill>
            <a:srgbClr val="4D4D4D"/>
          </a:solidFill>
          <a:round/>
          <a:headEnd/>
          <a:tailEnd type="triangle" w="med" len="med"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191</Words>
  <Application>Microsoft Office PowerPoint</Application>
  <PresentationFormat>A3 용지(297x420mm)</PresentationFormat>
  <Paragraphs>72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굴림</vt:lpstr>
      <vt:lpstr>바탕체</vt:lpstr>
      <vt:lpstr>기본 디자인</vt:lpstr>
      <vt:lpstr>PowerPoint 프레젠테이션</vt:lpstr>
    </vt:vector>
  </TitlesOfParts>
  <Company>(주)야긴스텍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PPT표준서식(가로)</dc:title>
  <dc:creator>정용혁</dc:creator>
  <cp:keywords>PPT표준서식(가로)</cp:keywords>
  <cp:lastModifiedBy>준철 신</cp:lastModifiedBy>
  <cp:revision>168</cp:revision>
  <cp:lastPrinted>2016-11-10T06:39:44Z</cp:lastPrinted>
  <dcterms:created xsi:type="dcterms:W3CDTF">2000-12-07T00:03:18Z</dcterms:created>
  <dcterms:modified xsi:type="dcterms:W3CDTF">2025-03-30T09:30:16Z</dcterms:modified>
</cp:coreProperties>
</file>